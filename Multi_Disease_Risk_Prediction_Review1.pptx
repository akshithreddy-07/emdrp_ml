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pic>
        <p:nvPicPr>
          <p:cNvPr id="4" name="Image 0" descr="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TEAM NO.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Multi-Disease Risk Prediction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Ensemble Machine Learning and Feature Attribution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" y="329184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474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AI-based system for early risk assessment and transparent prediction of multiple diseases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343400"/>
            <a:ext cx="6035040" cy="1783080"/>
          </a:xfrm>
          <a:prstGeom prst="roundRect">
            <a:avLst>
              <a:gd name="adj" fmla="val 5128"/>
            </a:avLst>
          </a:prstGeom>
          <a:solidFill>
            <a:srgbClr val="0A5470"/>
          </a:solidFill>
          <a:ln/>
        </p:spPr>
      </p:sp>
      <p:pic>
        <p:nvPicPr>
          <p:cNvPr id="11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5537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544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371600" y="489204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Akshith Reddy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2510040058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Ahladh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2510040061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Cyril Raj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2510040085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Our Project Mean?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that define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6" name="Image 0" descr="icons/lay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Risk Prediction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risk of more than one disease from relevant health and clinical parameters.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1" name="Image 1" descr="icons/cog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28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Machine Learning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0" y="26060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multiple machine-learning approaches to build reliable predictive models.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6" name="Image 2" descr="icons/brai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4531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understandable reason behind a model's prediction instead of only giving a risk result.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233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4F9F9"/>
          </a:solidFill>
          <a:ln/>
          <a:effectLst>
            <a:outerShdw sx="100000" sy="100000" kx="0" ky="0" algn="bl" rotWithShape="0" blurRad="76200" dist="25400" dir="5400000">
              <a:srgbClr val="1B2B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9768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21" name="Image 3" descr="icons/search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45312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Attribution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5029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clinical factors that contributed most to an individual prediction.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Risk Prediction — Review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6459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A547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3619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Health-risk assessment can involve many clinical factors such as glucose, blood pressure, BMI, cholesterol, age and other measurements.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A547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2491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prediction systems may focus on a single disease and may provide limited insight into why a prediction was produced.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A547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91363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proposes an AI-based system that predicts multiple disease risks and identifies the important clinical factors influencing those predictions.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A547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2180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10235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intended to support early risk awareness and informed healthcare decision-making, not replace professional diagnosis.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Risk Prediction — Review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Project Needed?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5445E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17830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5" name="Image 0" descr="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Health Risks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may have several risk factors or potential health risks that need to be considered together.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73852" y="17830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0" name="Image 1" descr="icons/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2834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Clinical Data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99432" y="34290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health measurements can influence risk, making systematic analysis useful.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5445E"/>
          </a:solidFill>
          <a:ln/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50324" y="1783080"/>
            <a:ext cx="822960" cy="822960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5" name="Image 2" descr="icons/search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4" y="2011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0184" y="2834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Transparency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75904" y="34290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3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prediction is more useful when users can understand which factors influenced the result.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2C39A"/>
          </a:solidFill>
          <a:ln/>
        </p:spPr>
      </p:sp>
      <p:pic>
        <p:nvPicPr>
          <p:cNvPr id="19" name="Image 3" descr="icons/bullsey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9320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8920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450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AI-based multi-disease risk assessment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Risk Prediction — Review 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data to an explainable risk assessment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0" descr="icons/userm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9705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88820" y="2468880"/>
            <a:ext cx="144780" cy="256032"/>
          </a:xfrm>
          <a:prstGeom prst="rightArrow">
            <a:avLst/>
          </a:prstGeom>
          <a:solidFill>
            <a:srgbClr val="C8DADC"/>
          </a:solidFill>
          <a:ln/>
        </p:spPr>
      </p:sp>
      <p:sp>
        <p:nvSpPr>
          <p:cNvPr id="9" name="Shape 6"/>
          <p:cNvSpPr/>
          <p:nvPr/>
        </p:nvSpPr>
        <p:spPr>
          <a:xfrm>
            <a:off x="215646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1366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960" y="19705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1132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596640" y="2468880"/>
            <a:ext cx="144780" cy="256032"/>
          </a:xfrm>
          <a:prstGeom prst="rightArrow">
            <a:avLst/>
          </a:prstGeom>
          <a:solidFill>
            <a:srgbClr val="C8DADC"/>
          </a:solidFill>
          <a:ln/>
        </p:spPr>
      </p:sp>
      <p:sp>
        <p:nvSpPr>
          <p:cNvPr id="14" name="Shape 10"/>
          <p:cNvSpPr/>
          <p:nvPr/>
        </p:nvSpPr>
        <p:spPr>
          <a:xfrm>
            <a:off x="376428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2148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6" name="Image 2" descr="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780" y="19705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1914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204460" y="2468880"/>
            <a:ext cx="144780" cy="256032"/>
          </a:xfrm>
          <a:prstGeom prst="rightArrow">
            <a:avLst/>
          </a:prstGeom>
          <a:solidFill>
            <a:srgbClr val="C8DADC"/>
          </a:solidFill>
          <a:ln/>
        </p:spPr>
      </p:sp>
      <p:sp>
        <p:nvSpPr>
          <p:cNvPr id="19" name="Shape 14"/>
          <p:cNvSpPr/>
          <p:nvPr/>
        </p:nvSpPr>
        <p:spPr>
          <a:xfrm>
            <a:off x="537210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2930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3" descr="icons/lay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9705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696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12280" y="2468880"/>
            <a:ext cx="144780" cy="256032"/>
          </a:xfrm>
          <a:prstGeom prst="rightArrow">
            <a:avLst/>
          </a:prstGeom>
          <a:solidFill>
            <a:srgbClr val="C8DADC"/>
          </a:solidFill>
          <a:ln/>
        </p:spPr>
      </p:sp>
      <p:sp>
        <p:nvSpPr>
          <p:cNvPr id="24" name="Shape 18"/>
          <p:cNvSpPr/>
          <p:nvPr/>
        </p:nvSpPr>
        <p:spPr>
          <a:xfrm>
            <a:off x="697992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3712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6" name="Image 4" descr="icons/chartli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420" y="19705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3478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420100" y="2468880"/>
            <a:ext cx="144780" cy="256032"/>
          </a:xfrm>
          <a:prstGeom prst="rightArrow">
            <a:avLst/>
          </a:prstGeom>
          <a:solidFill>
            <a:srgbClr val="C8DADC"/>
          </a:solidFill>
          <a:ln/>
        </p:spPr>
      </p:sp>
      <p:sp>
        <p:nvSpPr>
          <p:cNvPr id="29" name="Shape 22"/>
          <p:cNvSpPr/>
          <p:nvPr/>
        </p:nvSpPr>
        <p:spPr>
          <a:xfrm>
            <a:off x="858774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4494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1" name="Image 5" descr="icons/br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240" y="197053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260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10027920" y="2468880"/>
            <a:ext cx="144780" cy="256032"/>
          </a:xfrm>
          <a:prstGeom prst="rightArrow">
            <a:avLst/>
          </a:prstGeom>
          <a:solidFill>
            <a:srgbClr val="C8DADC"/>
          </a:solidFill>
          <a:ln/>
        </p:spPr>
      </p:sp>
      <p:sp>
        <p:nvSpPr>
          <p:cNvPr id="34" name="Shape 26"/>
          <p:cNvSpPr/>
          <p:nvPr/>
        </p:nvSpPr>
        <p:spPr>
          <a:xfrm>
            <a:off x="10195560" y="1691640"/>
            <a:ext cx="1417320" cy="178308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1B2B34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652760" y="1856232"/>
            <a:ext cx="502920" cy="5029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6" name="Image 6" descr="icons/clipboardlis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7060" y="1970532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250424" y="2468880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48640" y="38862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4F9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82296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Outputs</a:t>
            </a:r>
            <a:endParaRPr lang="en-US" sz="1400" dirty="0"/>
          </a:p>
        </p:txBody>
      </p:sp>
      <p:sp>
        <p:nvSpPr>
          <p:cNvPr id="40" name="Shape 31"/>
          <p:cNvSpPr/>
          <p:nvPr/>
        </p:nvSpPr>
        <p:spPr>
          <a:xfrm>
            <a:off x="822960" y="4526280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1" name="Image 7" descr="icons/tint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636008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37160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4434840" y="4526280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4" name="Image 8" descr="icons/heartbeat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4636008"/>
            <a:ext cx="320040" cy="32004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498348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Risk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8046720" y="4526280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7" name="Image 9" descr="icons/lungs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4636008"/>
            <a:ext cx="320040" cy="32004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59536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Risk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82296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important clinical factors contributing to each prediction</a:t>
            </a:r>
            <a:endParaRPr lang="en-US" sz="1150" dirty="0"/>
          </a:p>
        </p:txBody>
      </p:sp>
      <p:sp>
        <p:nvSpPr>
          <p:cNvPr id="5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Risk Prediction — Review 1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Impact &amp; Expected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922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B34">
                <a:alpha val="10000"/>
              </a:srgbClr>
            </a:outerShdw>
          </a:effectLst>
        </p:spPr>
      </p:sp>
      <p:pic>
        <p:nvPicPr>
          <p:cNvPr id="4" name="Image 0" descr="icons/hand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8680" y="22402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20756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early health-risk awareness.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28620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974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understand important clinical risk factors.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483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31927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transparent and interpretable AI predictions.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39410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healthcare professionals with an additional analytical tool.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7274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5628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preventive-health awareness through understandable risk information.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69480" y="1280160"/>
            <a:ext cx="4343400" cy="3794760"/>
          </a:xfrm>
          <a:prstGeom prst="roundRect">
            <a:avLst>
              <a:gd name="adj" fmla="val 2410"/>
            </a:avLst>
          </a:prstGeom>
          <a:solidFill>
            <a:srgbClr val="028090"/>
          </a:solidFill>
          <a:ln/>
        </p:spPr>
      </p:sp>
      <p:pic>
        <p:nvPicPr>
          <p:cNvPr id="17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50876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46720" y="1572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43800" y="2331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multi-disease risk prediction system that provides risk estimates and explains the clinical factors influencing each prediction.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Risk Prediction — Review 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 One Sentence</a:t>
            </a:r>
            <a:endParaRPr lang="en-US" sz="2800" dirty="0"/>
          </a:p>
        </p:txBody>
      </p:sp>
      <p:pic>
        <p:nvPicPr>
          <p:cNvPr id="5" name="Image 0" descr="icons/quote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 predicts the risk of multiple diseases using machine learning and explains the clinical factors that influence each prediction.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Review 1: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340156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A547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34015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13632" y="3401568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0A547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13632" y="3401568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40096" y="3401568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0A547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40096" y="3401568"/>
            <a:ext cx="1362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Impactful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67144" y="3401568"/>
            <a:ext cx="2368296" cy="384048"/>
          </a:xfrm>
          <a:prstGeom prst="roundRect">
            <a:avLst>
              <a:gd name="adj" fmla="val 50000"/>
            </a:avLst>
          </a:prstGeom>
          <a:solidFill>
            <a:srgbClr val="0A547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67144" y="3401568"/>
            <a:ext cx="2368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Societally relevant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1605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A5470"/>
          </a:solidFill>
          <a:ln w="12700">
            <a:solidFill>
              <a:srgbClr val="F4A100"/>
            </a:solidFill>
            <a:prstDash val="solid"/>
          </a:ln>
        </p:spPr>
      </p:sp>
      <p:pic>
        <p:nvPicPr>
          <p:cNvPr id="18" name="Image 1" descr="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348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4160520"/>
            <a:ext cx="9921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disclaimer: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is for risk assessment and decision support, not medical diagnosis.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 2  —  G Akshith Reddy · K Ahladh · P Cyril Raj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2026-08-17T07:28:35Z</dcterms:created>
  <dcterms:modified xsi:type="dcterms:W3CDTF">2026-08-17T07:28:35Z</dcterms:modified>
</cp:coreProperties>
</file>